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7A23A-0E11-4D74-B527-C481C052F65E}" v="5" dt="2026-09-10T05:08:12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wara Rao Immidisetti" userId="1df4c3896e051391" providerId="LiveId" clId="{19A7AE9B-F7DE-49A6-BA79-BD6BC5011318}"/>
    <pc:docChg chg="undo custSel modSld">
      <pc:chgData name="Eswara Rao Immidisetti" userId="1df4c3896e051391" providerId="LiveId" clId="{19A7AE9B-F7DE-49A6-BA79-BD6BC5011318}" dt="2026-09-10T05:08:43.036" v="66" actId="14100"/>
      <pc:docMkLst>
        <pc:docMk/>
      </pc:docMkLst>
      <pc:sldChg chg="modSp mod">
        <pc:chgData name="Eswara Rao Immidisetti" userId="1df4c3896e051391" providerId="LiveId" clId="{19A7AE9B-F7DE-49A6-BA79-BD6BC5011318}" dt="2026-09-10T05:06:40.357" v="54" actId="20577"/>
        <pc:sldMkLst>
          <pc:docMk/>
          <pc:sldMk cId="0" sldId="256"/>
        </pc:sldMkLst>
        <pc:spChg chg="mod">
          <ac:chgData name="Eswara Rao Immidisetti" userId="1df4c3896e051391" providerId="LiveId" clId="{19A7AE9B-F7DE-49A6-BA79-BD6BC5011318}" dt="2026-09-10T05:06:40.357" v="54" actId="20577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Eswara Rao Immidisetti" userId="1df4c3896e051391" providerId="LiveId" clId="{19A7AE9B-F7DE-49A6-BA79-BD6BC5011318}" dt="2026-09-10T05:08:43.036" v="66" actId="14100"/>
        <pc:sldMkLst>
          <pc:docMk/>
          <pc:sldMk cId="0" sldId="272"/>
        </pc:sldMkLst>
        <pc:spChg chg="mod">
          <ac:chgData name="Eswara Rao Immidisetti" userId="1df4c3896e051391" providerId="LiveId" clId="{19A7AE9B-F7DE-49A6-BA79-BD6BC5011318}" dt="2026-09-10T05:08:32.671" v="65" actId="14100"/>
          <ac:spMkLst>
            <pc:docMk/>
            <pc:sldMk cId="0" sldId="272"/>
            <ac:spMk id="6" creationId="{00000000-0000-0000-0000-000000000000}"/>
          </ac:spMkLst>
        </pc:spChg>
        <pc:spChg chg="del mod">
          <ac:chgData name="Eswara Rao Immidisetti" userId="1df4c3896e051391" providerId="LiveId" clId="{19A7AE9B-F7DE-49A6-BA79-BD6BC5011318}" dt="2026-09-10T05:08:20.168" v="62" actId="478"/>
          <ac:spMkLst>
            <pc:docMk/>
            <pc:sldMk cId="0" sldId="272"/>
            <ac:spMk id="11" creationId="{00000000-0000-0000-0000-000000000000}"/>
          </ac:spMkLst>
        </pc:spChg>
        <pc:picChg chg="mod">
          <ac:chgData name="Eswara Rao Immidisetti" userId="1df4c3896e051391" providerId="LiveId" clId="{19A7AE9B-F7DE-49A6-BA79-BD6BC5011318}" dt="2026-09-10T05:08:43.036" v="66" actId="14100"/>
          <ac:picMkLst>
            <pc:docMk/>
            <pc:sldMk cId="0" sldId="272"/>
            <ac:picMk id="5" creationId="{00000000-0000-0000-0000-000000000000}"/>
          </ac:picMkLst>
        </pc:picChg>
        <pc:picChg chg="del">
          <ac:chgData name="Eswara Rao Immidisetti" userId="1df4c3896e051391" providerId="LiveId" clId="{19A7AE9B-F7DE-49A6-BA79-BD6BC5011318}" dt="2026-09-10T05:08:15.028" v="58" actId="478"/>
          <ac:picMkLst>
            <pc:docMk/>
            <pc:sldMk cId="0" sldId="272"/>
            <ac:picMk id="9" creationId="{00000000-0000-0000-0000-000000000000}"/>
          </ac:picMkLst>
        </pc:picChg>
        <pc:picChg chg="del">
          <ac:chgData name="Eswara Rao Immidisetti" userId="1df4c3896e051391" providerId="LiveId" clId="{19A7AE9B-F7DE-49A6-BA79-BD6BC5011318}" dt="2026-09-10T05:07:27.710" v="56" actId="478"/>
          <ac:picMkLst>
            <pc:docMk/>
            <pc:sldMk cId="0" sldId="272"/>
            <ac:picMk id="10" creationId="{00000000-0000-0000-0000-000000000000}"/>
          </ac:picMkLst>
        </pc:picChg>
      </pc:sldChg>
      <pc:sldChg chg="modSp mod">
        <pc:chgData name="Eswara Rao Immidisetti" userId="1df4c3896e051391" providerId="LiveId" clId="{19A7AE9B-F7DE-49A6-BA79-BD6BC5011318}" dt="2026-09-10T05:07:19.563" v="55" actId="1076"/>
        <pc:sldMkLst>
          <pc:docMk/>
          <pc:sldMk cId="0" sldId="273"/>
        </pc:sldMkLst>
        <pc:spChg chg="mod">
          <ac:chgData name="Eswara Rao Immidisetti" userId="1df4c3896e051391" providerId="LiveId" clId="{19A7AE9B-F7DE-49A6-BA79-BD6BC5011318}" dt="2026-09-10T05:07:19.563" v="55" actId="1076"/>
          <ac:spMkLst>
            <pc:docMk/>
            <pc:sldMk cId="0" sldId="27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46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145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13525500" y="-1143000"/>
            <a:ext cx="6667500" cy="666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3500" y="2000250"/>
            <a:ext cx="5715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5D5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PROJECT  •  VOIS AICTE BATCH 1  2026–2027</a:t>
            </a:r>
            <a:endParaRPr lang="en-US" sz="1650" dirty="0"/>
          </a:p>
        </p:txBody>
      </p:sp>
      <p:sp>
        <p:nvSpPr>
          <p:cNvPr id="5" name="Text 1"/>
          <p:cNvSpPr/>
          <p:nvPr/>
        </p:nvSpPr>
        <p:spPr>
          <a:xfrm>
            <a:off x="1314450" y="2857500"/>
            <a:ext cx="14287500" cy="198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Seasonal Agriculture Performance Analysis</a:t>
            </a:r>
            <a:endParaRPr lang="en-US" sz="7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6191250"/>
            <a:ext cx="1333500" cy="571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33500" y="6858000"/>
            <a:ext cx="857250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Name : Immidisetti Eswara Rao</a:t>
            </a:r>
            <a:endParaRPr lang="en-US" sz="2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25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AICTE Student ID: </a:t>
            </a:r>
            <a:r>
              <a:rPr lang="en-IN" sz="2400" b="1" i="0" dirty="0">
                <a:solidFill>
                  <a:schemeClr val="bg1"/>
                </a:solidFill>
                <a:effectLst/>
                <a:latin typeface="__Plus_Jakarta_Sans_a11773"/>
              </a:rPr>
              <a:t>STU695a00824642b1767506050</a:t>
            </a:r>
            <a:endParaRPr lang="en-US" sz="2250" dirty="0">
              <a:solidFill>
                <a:schemeClr val="bg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 — AICTE Internship Program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9525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952500" y="2381250"/>
            <a:ext cx="10477500" cy="1876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Agricultural performance is shaped by seasonal environmental conditions, farming practices, resource availability, and market dynamics — yet raw agricultural data does not clearly reveal how performance changes across seasons.</a:t>
            </a:r>
            <a:endParaRPr lang="en-US" sz="2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334000"/>
            <a:ext cx="16383000" cy="19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500" y="590550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FOCUSES 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52500" y="6572250"/>
            <a:ext cx="16383000" cy="195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differences in yield, profit and resource use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 across Kharif, Rabi and Zaid seasons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between environment, inputs and outcomes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Variations that raw data alone cannot explain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04775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Description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952500" y="2095500"/>
            <a:ext cx="7239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analysis of agricultural activity across seasons, regions and farming conditions.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952500" y="3429000"/>
            <a:ext cx="7239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AREAS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500" y="4000500"/>
            <a:ext cx="7239000" cy="2914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production &amp; yield</a:t>
            </a:r>
            <a:endParaRPr lang="en-US" sz="22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conditions</a:t>
            </a:r>
            <a:endParaRPr lang="en-US" sz="22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Irrigation &amp; water efficiency</a:t>
            </a:r>
            <a:endParaRPr lang="en-US" sz="22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Revenue, cost &amp; profit</a:t>
            </a:r>
            <a:endParaRPr lang="en-US" sz="22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/ pest risk</a:t>
            </a:r>
            <a:endParaRPr lang="en-US" sz="22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differences</a:t>
            </a:r>
            <a:endParaRPr lang="en-US" sz="2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095500"/>
            <a:ext cx="8191500" cy="666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20250" y="2571750"/>
            <a:ext cx="7239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620250" y="3238500"/>
            <a:ext cx="7239000" cy="3105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2325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Data Collection</a:t>
            </a:r>
            <a:endParaRPr lang="en-US" sz="2325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325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Data Cleaning</a:t>
            </a:r>
            <a:endParaRPr lang="en-US" sz="2325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325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Exploratory Data Analysis</a:t>
            </a:r>
            <a:endParaRPr lang="en-US" sz="2325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325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Seasonal Analysis</a:t>
            </a:r>
            <a:endParaRPr lang="en-US" sz="2325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325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Relationship &amp; Statistical Analysis</a:t>
            </a:r>
            <a:endParaRPr lang="en-US" sz="2325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325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 Insights &amp; Recommendations</a:t>
            </a:r>
            <a:endParaRPr lang="en-US" sz="23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1430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Are the End Users?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952500" y="20955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52500" y="2762250"/>
            <a:ext cx="7810500" cy="362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Farmers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Agricultural planners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teams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Irrigation &amp; resource planners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Agribusiness stakeholders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Researchers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analysts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2095500"/>
            <a:ext cx="7810500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0" y="257175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0001250" y="3238500"/>
            <a:ext cx="6858000" cy="3000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better-performing seasons</a:t>
            </a:r>
            <a:endParaRPr lang="en-US" sz="225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crop performance</a:t>
            </a:r>
            <a:endParaRPr lang="en-US" sz="225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resource needs</a:t>
            </a:r>
            <a:endParaRPr lang="en-US" sz="225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low-performing areas</a:t>
            </a:r>
            <a:endParaRPr lang="en-US" sz="225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planning decisions</a:t>
            </a:r>
            <a:endParaRPr lang="en-US" sz="225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evidence-based choices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9525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Used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952500" y="20955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LIBRARIES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762250"/>
            <a:ext cx="2476500" cy="133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500" y="3286125"/>
            <a:ext cx="2476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0" y="2762250"/>
            <a:ext cx="2476500" cy="1333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14750" y="3286125"/>
            <a:ext cx="2476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762250"/>
            <a:ext cx="2476500" cy="1333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77000" y="3286125"/>
            <a:ext cx="2476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</a:t>
            </a:r>
            <a:endParaRPr lang="en-US" sz="2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381500"/>
            <a:ext cx="2476500" cy="1333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2500" y="4905375"/>
            <a:ext cx="2476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SciPy</a:t>
            </a:r>
            <a:endParaRPr lang="en-US" sz="2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0" y="4381500"/>
            <a:ext cx="2476500" cy="1333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714750" y="4905375"/>
            <a:ext cx="2476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33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Matplotlib</a:t>
            </a:r>
            <a:endParaRPr lang="en-US" sz="22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381500"/>
            <a:ext cx="2476500" cy="13335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77000" y="4810125"/>
            <a:ext cx="2476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233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Jupyter Notebook</a:t>
            </a:r>
            <a:endParaRPr lang="en-US" sz="21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0" y="2095500"/>
            <a:ext cx="7715250" cy="68580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096500" y="257175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TECHNIQUES</a:t>
            </a:r>
            <a:endParaRPr lang="en-US" sz="1950" dirty="0"/>
          </a:p>
        </p:txBody>
      </p:sp>
      <p:sp>
        <p:nvSpPr>
          <p:cNvPr id="20" name="Text 10"/>
          <p:cNvSpPr/>
          <p:nvPr/>
        </p:nvSpPr>
        <p:spPr>
          <a:xfrm>
            <a:off x="10096500" y="323850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statistics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analysis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Correlations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 detection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Kruskal–Wallis tests</a:t>
            </a:r>
            <a:endParaRPr lang="en-US" sz="22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visualization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Overview &amp; Data Preparation</a:t>
            </a:r>
            <a:endParaRPr lang="en-US" sz="3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000250"/>
            <a:ext cx="2571750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2500" y="2333625"/>
            <a:ext cx="257175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4,000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952500" y="3048000"/>
            <a:ext cx="2571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 Records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2000250"/>
            <a:ext cx="257175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10000" y="2333625"/>
            <a:ext cx="257175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4200" dirty="0"/>
          </a:p>
        </p:txBody>
      </p:sp>
      <p:sp>
        <p:nvSpPr>
          <p:cNvPr id="10" name="Text 5"/>
          <p:cNvSpPr/>
          <p:nvPr/>
        </p:nvSpPr>
        <p:spPr>
          <a:xfrm>
            <a:off x="3810000" y="3048000"/>
            <a:ext cx="2571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2000250"/>
            <a:ext cx="2571750" cy="171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67500" y="2333625"/>
            <a:ext cx="257175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7"/>
          <p:cNvSpPr/>
          <p:nvPr/>
        </p:nvSpPr>
        <p:spPr>
          <a:xfrm>
            <a:off x="6667500" y="3048000"/>
            <a:ext cx="2571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Seasons</a:t>
            </a:r>
            <a:endParaRPr lang="en-US" sz="1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000500"/>
            <a:ext cx="2571750" cy="1714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2500" y="4333875"/>
            <a:ext cx="257175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3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4200" dirty="0"/>
          </a:p>
        </p:txBody>
      </p:sp>
      <p:sp>
        <p:nvSpPr>
          <p:cNvPr id="16" name="Text 9"/>
          <p:cNvSpPr/>
          <p:nvPr/>
        </p:nvSpPr>
        <p:spPr>
          <a:xfrm>
            <a:off x="952500" y="5048250"/>
            <a:ext cx="2571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Crops</a:t>
            </a:r>
            <a:endParaRPr lang="en-US" sz="1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0" y="4000500"/>
            <a:ext cx="2571750" cy="1714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810000" y="4333875"/>
            <a:ext cx="257175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3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4200" dirty="0"/>
          </a:p>
        </p:txBody>
      </p:sp>
      <p:sp>
        <p:nvSpPr>
          <p:cNvPr id="19" name="Text 11"/>
          <p:cNvSpPr/>
          <p:nvPr/>
        </p:nvSpPr>
        <p:spPr>
          <a:xfrm>
            <a:off x="3810000" y="5048250"/>
            <a:ext cx="2571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</a:t>
            </a:r>
            <a:endParaRPr lang="en-US" sz="1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4000500"/>
            <a:ext cx="2571750" cy="1714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667500" y="4333875"/>
            <a:ext cx="257175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3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4200" dirty="0"/>
          </a:p>
        </p:txBody>
      </p:sp>
      <p:sp>
        <p:nvSpPr>
          <p:cNvPr id="22" name="Text 13"/>
          <p:cNvSpPr/>
          <p:nvPr/>
        </p:nvSpPr>
        <p:spPr>
          <a:xfrm>
            <a:off x="6667500" y="5048250"/>
            <a:ext cx="2571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Districts</a:t>
            </a:r>
            <a:endParaRPr lang="en-US" sz="18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0" y="2000250"/>
            <a:ext cx="7524750" cy="68580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287000" y="2476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950" dirty="0"/>
          </a:p>
        </p:txBody>
      </p:sp>
      <p:sp>
        <p:nvSpPr>
          <p:cNvPr id="25" name="Text 15"/>
          <p:cNvSpPr/>
          <p:nvPr/>
        </p:nvSpPr>
        <p:spPr>
          <a:xfrm>
            <a:off x="10287000" y="3143250"/>
            <a:ext cx="6667500" cy="3190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data types &amp; structure</a:t>
            </a:r>
            <a:endParaRPr lang="en-US" sz="2175" dirty="0"/>
          </a:p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duplicate records</a:t>
            </a:r>
            <a:endParaRPr lang="en-US" sz="2175" dirty="0"/>
          </a:p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&amp; treated missing values</a:t>
            </a:r>
            <a:endParaRPr lang="en-US" sz="2175" dirty="0"/>
          </a:p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numerical gaps</a:t>
            </a:r>
            <a:endParaRPr lang="en-US" sz="2175" dirty="0"/>
          </a:p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extreme values</a:t>
            </a:r>
            <a:endParaRPr lang="en-US" sz="2175" dirty="0"/>
          </a:p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derived metrics</a:t>
            </a:r>
            <a:endParaRPr lang="en-US" sz="2175" dirty="0"/>
          </a:p>
          <a:p>
            <a:pPr marL="342900" indent="-342900" algn="l">
              <a:lnSpc>
                <a:spcPct val="165000"/>
              </a:lnSpc>
              <a:buSzPct val="100000"/>
              <a:buChar char="•"/>
            </a:pPr>
            <a:r>
              <a:rPr lang="en-US" sz="2175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seasonal comparison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Seasonal Agricultural Performance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52500" y="2000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YIELD BY SEASON (tonnes/ha)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3048000"/>
            <a:ext cx="1428750" cy="4762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8001000"/>
            <a:ext cx="1428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428750" y="2571750"/>
            <a:ext cx="1428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4.8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4191000"/>
            <a:ext cx="1428750" cy="3619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10000" y="8001000"/>
            <a:ext cx="1428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3810000" y="3714750"/>
            <a:ext cx="1428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3.9</a:t>
            </a:r>
            <a:endParaRPr lang="en-US" sz="2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5143500"/>
            <a:ext cx="1428750" cy="2667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1250" y="8001000"/>
            <a:ext cx="1428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Zaid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6191250" y="4667250"/>
            <a:ext cx="1428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2000250"/>
            <a:ext cx="7810500" cy="6858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01250" y="247650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0001250" y="3143250"/>
            <a:ext cx="685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Kharif delivers the strongest overall yield performance, followed by Rabi, with Zaid the weakest.</a:t>
            </a:r>
            <a:endParaRPr lang="en-US" sz="2850" dirty="0"/>
          </a:p>
        </p:txBody>
      </p:sp>
      <p:sp>
        <p:nvSpPr>
          <p:cNvPr id="18" name="Text 11"/>
          <p:cNvSpPr/>
          <p:nvPr/>
        </p:nvSpPr>
        <p:spPr>
          <a:xfrm>
            <a:off x="10001250" y="6096000"/>
            <a:ext cx="6858000" cy="12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mean and median yields confirm this ranking, indicating a consistent seasonal advantage rather than an effect driven by outliers.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Seasonal Economic Performance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52500" y="2000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PROFIT BY SEASON (₹ '000/ha)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3048000"/>
            <a:ext cx="1428750" cy="4762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2571750"/>
            <a:ext cx="1428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₹62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428750" y="8001000"/>
            <a:ext cx="1428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</a:t>
            </a:r>
            <a:endParaRPr lang="en-US" sz="2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4381500"/>
            <a:ext cx="1428750" cy="3429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10000" y="3905250"/>
            <a:ext cx="1428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₹48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3810000" y="8001000"/>
            <a:ext cx="1428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</a:t>
            </a:r>
            <a:endParaRPr lang="en-US" sz="2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5715000"/>
            <a:ext cx="1428750" cy="2095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1250" y="5238750"/>
            <a:ext cx="1428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₹27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6191250" y="8001000"/>
            <a:ext cx="1428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Zaid</a:t>
            </a:r>
            <a:endParaRPr lang="en-US" sz="2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2000250"/>
            <a:ext cx="7810500" cy="6858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01250" y="247650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0001250" y="3143250"/>
            <a:ext cx="685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b="1" dirty="0">
                <a:solidFill>
                  <a:srgbClr val="1B2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Kharif is the most profitable season; Zaid is the weakest across revenue, cost and profit.</a:t>
            </a:r>
            <a:endParaRPr lang="en-US" sz="2850" dirty="0"/>
          </a:p>
        </p:txBody>
      </p:sp>
      <p:sp>
        <p:nvSpPr>
          <p:cNvPr id="18" name="Text 11"/>
          <p:cNvSpPr/>
          <p:nvPr/>
        </p:nvSpPr>
        <p:spPr>
          <a:xfrm>
            <a:off x="10001250" y="5810250"/>
            <a:ext cx="6858000" cy="12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405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profit is reported alongside the mean because extreme observations inflate averages. Positive-profit share is also highest in Kharif.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Environmental Conditions Across Seasons</a:t>
            </a:r>
            <a:endParaRPr lang="en-US" sz="3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095500"/>
            <a:ext cx="3810000" cy="304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3500" y="2476500"/>
            <a:ext cx="304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333500" y="304800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Kharif: High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Rabi: Moderate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Zaid: Low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095500"/>
            <a:ext cx="3810000" cy="3048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4500" y="2476500"/>
            <a:ext cx="304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5524500" y="304800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Kharif: Warm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Rabi: Cool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Zaid: Hot</a:t>
            </a:r>
            <a:endParaRPr lang="en-US" sz="2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429250"/>
            <a:ext cx="3810000" cy="3048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33500" y="5810250"/>
            <a:ext cx="304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HUMIDITY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333500" y="638175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Kharif: High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Rabi: Moderate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Zaid: Low</a:t>
            </a:r>
            <a:endParaRPr lang="en-US" sz="2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5429250"/>
            <a:ext cx="3810000" cy="3048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24500" y="5810250"/>
            <a:ext cx="304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 MOISTURE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5524500" y="638175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Kharif: High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Rabi: Moderate</a:t>
            </a:r>
            <a:endParaRPr lang="en-US" sz="2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Zaid: Low</a:t>
            </a:r>
            <a:endParaRPr lang="en-US" sz="2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2095500"/>
            <a:ext cx="7810500" cy="6381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01250" y="257175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OBSERVATIONS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10001250" y="3238500"/>
            <a:ext cx="6858000" cy="1876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 combines the highest rainfall, humidity and soil moisture, while Zaid is markedly drier and hotter. Rabi sits between the two.</a:t>
            </a:r>
            <a:endParaRPr lang="en-US" sz="2550" dirty="0"/>
          </a:p>
        </p:txBody>
      </p:sp>
      <p:sp>
        <p:nvSpPr>
          <p:cNvPr id="20" name="Text 12"/>
          <p:cNvSpPr/>
          <p:nvPr/>
        </p:nvSpPr>
        <p:spPr>
          <a:xfrm>
            <a:off x="10001250" y="6858000"/>
            <a:ext cx="68580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These are associations only — they do not establish causation.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Crop Performance Across Seasons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52500" y="2000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× SEASON PROFIT STRENGTH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857500"/>
            <a:ext cx="1714500" cy="857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500" y="3143250"/>
            <a:ext cx="1714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Sugarcane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2857500"/>
            <a:ext cx="1714500" cy="857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57500" y="3143250"/>
            <a:ext cx="1714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Chilli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2857500"/>
            <a:ext cx="1714500" cy="857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62500" y="3143250"/>
            <a:ext cx="1714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Cotton</a:t>
            </a:r>
            <a:endParaRPr lang="en-US" sz="16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3905250"/>
            <a:ext cx="1714500" cy="8572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2500" y="4191000"/>
            <a:ext cx="1714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Maize</a:t>
            </a:r>
            <a:endParaRPr lang="en-US" sz="16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0" y="3905250"/>
            <a:ext cx="1714500" cy="8572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857500" y="4191000"/>
            <a:ext cx="1714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Wheat</a:t>
            </a:r>
            <a:endParaRPr lang="en-US" sz="16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0" y="3905250"/>
            <a:ext cx="1714500" cy="8572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762500" y="4191000"/>
            <a:ext cx="1714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</a:t>
            </a:r>
            <a:endParaRPr lang="en-US" sz="16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5334000"/>
            <a:ext cx="5524500" cy="3810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52500" y="5810250"/>
            <a:ext cx="5524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05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profit  →  Higher profit</a:t>
            </a:r>
            <a:endParaRPr lang="en-US" sz="15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0" y="2095500"/>
            <a:ext cx="7810500" cy="685800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001250" y="257175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950" dirty="0"/>
          </a:p>
        </p:txBody>
      </p:sp>
      <p:sp>
        <p:nvSpPr>
          <p:cNvPr id="22" name="Text 11"/>
          <p:cNvSpPr/>
          <p:nvPr/>
        </p:nvSpPr>
        <p:spPr>
          <a:xfrm>
            <a:off x="10001250" y="3333750"/>
            <a:ext cx="6858000" cy="3409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Sugarcane &amp; Chilli show the strongest profit combinations, especially in Kharif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crops consistently outperform staples on profit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Staple crops (rice, wheat) show weaker, thinner margins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choice interacts strongly with season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Irrigation &amp; Resource Utilization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52500" y="2000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IRRIGATION METHOD COMPARISON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762250"/>
            <a:ext cx="7810500" cy="857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8250" y="3048000"/>
            <a:ext cx="285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095750" y="3048000"/>
            <a:ext cx="2095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/ Profit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77000" y="3048000"/>
            <a:ext cx="2095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Eff.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38250" y="3905250"/>
            <a:ext cx="7620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22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Drip           Highest        High</a:t>
            </a:r>
            <a:endParaRPr lang="en-US" sz="2250" dirty="0"/>
          </a:p>
          <a:p>
            <a:pPr marL="0" indent="0" algn="l">
              <a:lnSpc>
                <a:spcPct val="22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          Moderate      Low</a:t>
            </a:r>
            <a:endParaRPr lang="en-US" sz="2250" dirty="0"/>
          </a:p>
          <a:p>
            <a:pPr marL="0" indent="0" algn="l">
              <a:lnSpc>
                <a:spcPct val="22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Rainfed      Lower           Highest</a:t>
            </a:r>
            <a:endParaRPr lang="en-US" sz="2250" dirty="0"/>
          </a:p>
          <a:p>
            <a:pPr marL="0" indent="0" algn="l">
              <a:lnSpc>
                <a:spcPct val="22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       Moderate      Moderate</a:t>
            </a:r>
            <a:endParaRPr lang="en-US" sz="2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2095500"/>
            <a:ext cx="7810500" cy="685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1250" y="257175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0001250" y="3333750"/>
            <a:ext cx="6858000" cy="2924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Drip irrigation shows the highest yield and profit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Rainfed farming shows the highest water efficiency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 irrigation uses the most water for modest returns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0001250" y="7239000"/>
            <a:ext cx="6858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Differences reflect association, not proven cause — crop and region also vary by method.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Relationships &amp; Correlations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52500" y="2000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WITH YIELD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2762250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</a:t>
            </a:r>
            <a:endParaRPr lang="en-US" sz="2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2809875"/>
            <a:ext cx="4000500" cy="3429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2809875"/>
            <a:ext cx="276225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01000" y="2809875"/>
            <a:ext cx="1143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0.68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952500" y="3524250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 Moisture</a:t>
            </a:r>
            <a:endParaRPr lang="en-US" sz="2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71875"/>
            <a:ext cx="4000500" cy="3429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3571875"/>
            <a:ext cx="2476500" cy="3429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01000" y="3571875"/>
            <a:ext cx="1143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0.61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952500" y="4286250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Fertilizer</a:t>
            </a:r>
            <a:endParaRPr lang="en-US" sz="2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333875"/>
            <a:ext cx="4000500" cy="34290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4333875"/>
            <a:ext cx="2000250" cy="3429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001000" y="4333875"/>
            <a:ext cx="1143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0.49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952500" y="5048250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→ Profit</a:t>
            </a:r>
            <a:endParaRPr lang="en-US" sz="2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095875"/>
            <a:ext cx="4000500" cy="34290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0" y="5095875"/>
            <a:ext cx="3143250" cy="34290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001000" y="5095875"/>
            <a:ext cx="1143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0.77</a:t>
            </a:r>
            <a:endParaRPr lang="en-US" sz="195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2095500"/>
            <a:ext cx="7810500" cy="68580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0001250" y="2571750"/>
            <a:ext cx="6858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STANDS OUT</a:t>
            </a:r>
            <a:endParaRPr lang="en-US" sz="1950" dirty="0"/>
          </a:p>
        </p:txBody>
      </p:sp>
      <p:sp>
        <p:nvSpPr>
          <p:cNvPr id="24" name="Text 12"/>
          <p:cNvSpPr/>
          <p:nvPr/>
        </p:nvSpPr>
        <p:spPr>
          <a:xfrm>
            <a:off x="10001250" y="3333750"/>
            <a:ext cx="68580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and profit are strongly linked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 &amp; soil moisture show the strongest environmental links to yield</a:t>
            </a:r>
            <a:endParaRPr lang="en-US" sz="24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Fertilizer has a moderate positive association</a:t>
            </a:r>
            <a:endParaRPr lang="en-US" sz="2400" dirty="0"/>
          </a:p>
        </p:txBody>
      </p:sp>
      <p:sp>
        <p:nvSpPr>
          <p:cNvPr id="25" name="Text 13"/>
          <p:cNvSpPr/>
          <p:nvPr/>
        </p:nvSpPr>
        <p:spPr>
          <a:xfrm>
            <a:off x="10001250" y="7239000"/>
            <a:ext cx="6858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Water-efficiency correlations use a derived metric — interpret with caution.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4287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Statistical Analysis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52500" y="2000250"/>
            <a:ext cx="1238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KRUSKAL–WALLIS H TEST  —  Seasonal Differences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762250"/>
            <a:ext cx="11430000" cy="857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3500" y="3048000"/>
            <a:ext cx="3810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715000" y="3048000"/>
            <a:ext cx="2476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p-value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572500" y="30480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714750"/>
            <a:ext cx="11430000" cy="952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3500" y="4000500"/>
            <a:ext cx="3810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across seasons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5715000" y="4000500"/>
            <a:ext cx="2476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0.001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8572500" y="4000500"/>
            <a:ext cx="3619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difference</a:t>
            </a:r>
            <a:endParaRPr lang="en-US" sz="2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762500"/>
            <a:ext cx="11430000" cy="952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3500" y="5048250"/>
            <a:ext cx="3810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across seasons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5715000" y="5048250"/>
            <a:ext cx="2476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0.001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8572500" y="5048250"/>
            <a:ext cx="3619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difference</a:t>
            </a:r>
            <a:endParaRPr lang="en-US" sz="2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6477000"/>
            <a:ext cx="16383000" cy="2667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28750" y="6858000"/>
            <a:ext cx="3810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1950" dirty="0"/>
          </a:p>
        </p:txBody>
      </p:sp>
      <p:sp>
        <p:nvSpPr>
          <p:cNvPr id="20" name="Text 13"/>
          <p:cNvSpPr/>
          <p:nvPr/>
        </p:nvSpPr>
        <p:spPr>
          <a:xfrm>
            <a:off x="1428750" y="7429500"/>
            <a:ext cx="14763750" cy="904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p-values well below 0.001, seasonal differences in both yield and profit are statistically significant — the observed seasonal patterns are highly unlikely to be due to chance.</a:t>
            </a:r>
            <a:endParaRPr lang="en-US" sz="2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2190750" y="762000"/>
            <a:ext cx="114300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Insights</a:t>
            </a:r>
            <a:endParaRPr lang="en-US" sz="4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095500"/>
            <a:ext cx="5238750" cy="2095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2381250"/>
            <a:ext cx="4572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PERFORMANCE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33500" y="2857500"/>
            <a:ext cx="4572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Kharif leads on yield and profit; Zaid is consistently the weakest season.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095500"/>
            <a:ext cx="5238750" cy="2095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5625" y="2381250"/>
            <a:ext cx="4572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905625" y="2857500"/>
            <a:ext cx="4572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closely tracks yield, but high-value crops drive the biggest margins.</a:t>
            </a:r>
            <a:endParaRPr lang="en-US" sz="1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0" y="2095500"/>
            <a:ext cx="5238750" cy="2095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77750" y="2381250"/>
            <a:ext cx="4572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PERFORMANCE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2477750" y="2857500"/>
            <a:ext cx="4572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Sugarcane and chilli excel; staple crops show thinner margins.</a:t>
            </a:r>
            <a:endParaRPr lang="en-US" sz="1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476750"/>
            <a:ext cx="5238750" cy="2095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33500" y="4762500"/>
            <a:ext cx="4572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VARIATION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333500" y="5238750"/>
            <a:ext cx="4572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Rainfall, humidity and soil moisture peak in Kharif and dip in Zaid.</a:t>
            </a:r>
            <a:endParaRPr lang="en-US" sz="1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476750"/>
            <a:ext cx="5238750" cy="2095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05625" y="4762500"/>
            <a:ext cx="4572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UTILIZATION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6905625" y="5238750"/>
            <a:ext cx="4572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Drip leads on yield/profit; rainfed leads on water efficiency.</a:t>
            </a:r>
            <a:endParaRPr lang="en-US" sz="1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0" y="4476750"/>
            <a:ext cx="5238750" cy="2095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477750" y="4762500"/>
            <a:ext cx="4572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EVIDENCE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12477750" y="5238750"/>
            <a:ext cx="457200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differences in yield and profit are statistically significant (p &lt; 0.001).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1430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Recommendations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952500" y="2190750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2B7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905000" y="2238375"/>
            <a:ext cx="1524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season-specific crops — favour high-value crops in Kharif.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52500" y="3286125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2B7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05000" y="3333750"/>
            <a:ext cx="1524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profit alongside yield when evaluating crop choices.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52500" y="4381500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2B7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905000" y="4429125"/>
            <a:ext cx="1524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irrigation — balance drip's returns with water efficiency.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2500" y="5476875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2B7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905000" y="5524500"/>
            <a:ext cx="1524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low-performing crop-season combinations more closely.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2500" y="6572250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2B7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905000" y="6619875"/>
            <a:ext cx="1524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extreme observations before acting on outlier-driven results.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52500" y="7667625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2B7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905000" y="7715250"/>
            <a:ext cx="1524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additional data (weather, market) for stronger planning.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3619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90750" y="457200"/>
            <a:ext cx="11430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952500" y="1905000"/>
            <a:ext cx="1638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historical analysis toward predictive, intelligent planning.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857500"/>
            <a:ext cx="5238750" cy="1714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3500" y="3238500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 time-series analysis</a:t>
            </a:r>
            <a:endParaRPr lang="en-US" sz="2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857500"/>
            <a:ext cx="523875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05625" y="3238500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&amp; profit forecasting</a:t>
            </a:r>
            <a:endParaRPr lang="en-US" sz="2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0" y="2857500"/>
            <a:ext cx="523875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77750" y="3238500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1B2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&amp; market integration</a:t>
            </a:r>
            <a:endParaRPr lang="en-US" sz="2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857750"/>
            <a:ext cx="5238750" cy="1714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33500" y="5238750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models</a:t>
            </a:r>
            <a:endParaRPr lang="en-US" sz="22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857750"/>
            <a:ext cx="5238750" cy="1714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905625" y="5238750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sensing data</a:t>
            </a:r>
            <a:endParaRPr lang="en-US" sz="22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6750" y="4857750"/>
            <a:ext cx="5238750" cy="17145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477750" y="5238750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233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dashboards</a:t>
            </a:r>
            <a:endParaRPr lang="en-US" sz="2250" dirty="0"/>
          </a:p>
        </p:txBody>
      </p:sp>
      <p:sp>
        <p:nvSpPr>
          <p:cNvPr id="18" name="Text 9"/>
          <p:cNvSpPr/>
          <p:nvPr/>
        </p:nvSpPr>
        <p:spPr>
          <a:xfrm>
            <a:off x="952500" y="7334250"/>
            <a:ext cx="16383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05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these extensions evolve the project from descriptive insight into predictive, decision-ready agricultural intelligence.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143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C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2190750" y="762000"/>
            <a:ext cx="114300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Repository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6670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LINK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3333750"/>
            <a:ext cx="12878647" cy="1009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600450"/>
            <a:ext cx="1062228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https://github.com/Eswara2212/Seasonal_Agriculture_Performance_Analysis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952500" y="47625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9C4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INSIDE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52500" y="5429250"/>
            <a:ext cx="8572500" cy="2076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 Notebook with full analysis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dataset &amp; data dictionary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outputs &amp; test results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Visualizations &amp; charts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14287500" y="5715000"/>
            <a:ext cx="6667500" cy="666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0080" y="1479909"/>
            <a:ext cx="9144000" cy="428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1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0" y="5810250"/>
            <a:ext cx="2857500" cy="571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76500" y="6286500"/>
            <a:ext cx="133350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5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Agriculture Performance Analysis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2476500" y="93345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5D5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 — AICTE  •  BATCH 1  •  2026–2027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1017</Words>
  <Application>Microsoft Office PowerPoint</Application>
  <PresentationFormat>Custom</PresentationFormat>
  <Paragraphs>260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__Plus_Jakarta_Sans_a11773</vt:lpstr>
      <vt:lpstr>Arial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d0bbcf3d-a85d-42cc-92eb-c9b34e5b6dd6</dc:title>
  <dc:subject>Presentation Export</dc:subject>
  <dc:creator>Design Export</dc:creator>
  <cp:lastModifiedBy>Eswara Rao Immidisetti</cp:lastModifiedBy>
  <cp:revision>1</cp:revision>
  <dcterms:created xsi:type="dcterms:W3CDTF">2026-09-10T05:02:14Z</dcterms:created>
  <dcterms:modified xsi:type="dcterms:W3CDTF">2026-09-10T05:08:52Z</dcterms:modified>
</cp:coreProperties>
</file>